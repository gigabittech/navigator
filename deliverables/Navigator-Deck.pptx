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82880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371600" y="184708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NAVIGATOR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10241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Walk into every appointment </a:t>
            </a:r>
            <a:pPr algn="l" indent="0" marL="0">
              <a:buNone/>
            </a:pPr>
            <a:r>
              <a:rPr lang="en-US" sz="4400" b="1" i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prepared.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39776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7D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local-first PWA for parents managing a child’s complex psychiatric care.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5029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8A9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Engineering Proposal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54406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NovaSapien Labs · Internal stakeholder brief ·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15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Nobody told you you’d become a case manager for your own kid.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5486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child’s psychiatric story ends up scattered across five places — a pill organizer, a calendar, teacher emails, a notes app, and the parent’s memory. None of them designed for it.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4290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 min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834640" y="3465576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psychiatrist visit — 90 days recalled from sticky notes.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4270248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30–90 days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834640" y="4306824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every appointment. A lot happens, and is forgotten.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5111496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~70%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834640" y="5148072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patterns get missed without a system to surface them.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9944" y="1792224"/>
            <a:ext cx="5148072" cy="3246120"/>
          </a:xfrm>
          <a:prstGeom prst="roundRect">
            <a:avLst>
              <a:gd name="adj" fmla="val 2254"/>
            </a:avLst>
          </a:prstGeom>
          <a:solidFill>
            <a:srgbClr val="111E35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12" name="Image 0" descr="/Users/sujanbhuiyan/Gigaverse/Projects/navigator/docs/assets/screenshots/desktop-02-probl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1828800"/>
            <a:ext cx="5074920" cy="3172968"/>
          </a:xfrm>
          <a:prstGeom prst="ellipse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Navigator · Powered by NovaSapien Labs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place to log it — one tap to a clinical report.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5120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7D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Navigator turns everyday logging, done in seconds, into a structured 90-day clinical summary. Local-first, private, and built for the hardest version of the problem.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383280"/>
            <a:ext cx="384048" cy="38404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33832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33375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 seconds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367588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dose outcomes, tagged notes, voice.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4251960"/>
            <a:ext cx="384048" cy="38404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42519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8720" y="4206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 on one timeline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88720" y="454456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regimens, corrections, patterns.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5120640"/>
            <a:ext cx="384048" cy="38404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5120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8720" y="5074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in prepared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88720" y="541324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90-day report a clinician reads in a minute.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9944" y="1792224"/>
            <a:ext cx="5148072" cy="3246120"/>
          </a:xfrm>
          <a:prstGeom prst="roundRect">
            <a:avLst>
              <a:gd name="adj" fmla="val 2254"/>
            </a:avLst>
          </a:prstGeom>
          <a:solidFill>
            <a:srgbClr val="111E35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18" name="Image 0" descr="/Users/sujanbhuiyan/Gigaverse/Projects/navigator/docs/assets/screenshots/desktop-01-he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1828800"/>
            <a:ext cx="5074920" cy="3172968"/>
          </a:xfrm>
          <a:prstGeom prst="ellipse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Navigator · Powered by NovaSapien Labs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· FEATURE 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15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for the hardest version of the problem.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03504" y="1837944"/>
            <a:ext cx="6108192" cy="3849624"/>
          </a:xfrm>
          <a:prstGeom prst="roundRect">
            <a:avLst>
              <a:gd name="adj" fmla="val 1900"/>
            </a:avLst>
          </a:prstGeom>
          <a:solidFill>
            <a:srgbClr val="111E35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5" name="Image 0" descr="/Users/sujanbhuiyan/Gigaverse/Projects/navigator/docs/assets/screenshots/desktop-03-track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74520"/>
            <a:ext cx="6035040" cy="3776472"/>
          </a:xfrm>
          <a:prstGeom prst="ellipse">
            <a:avLst/>
          </a:prstGeom>
        </p:spPr>
      </p:pic>
      <p:sp>
        <p:nvSpPr>
          <p:cNvPr id="6" name="Text 3"/>
          <p:cNvSpPr/>
          <p:nvPr/>
        </p:nvSpPr>
        <p:spPr>
          <a:xfrm>
            <a:off x="6949440" y="19202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5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Medication tracker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949440" y="2514600"/>
            <a:ext cx="4572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150+ medications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across every major class — stimulants, non-stimulants, mood stabilizers, antipsychotics, SSRIs/SNRIs. Navigator shows how concurrent regimens interact with each other and with daily life.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949440" y="416052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dose-log tap updates the UI in under 50 ms — because every read and write is on-device.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Navigator · Powered by NovaSapien Labs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· FEATURE 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Walk in with a clinical report. Not a reconstruction.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089904" y="1746504"/>
            <a:ext cx="5468112" cy="3447288"/>
          </a:xfrm>
          <a:prstGeom prst="roundRect">
            <a:avLst>
              <a:gd name="adj" fmla="val 2122"/>
            </a:avLst>
          </a:prstGeom>
          <a:solidFill>
            <a:srgbClr val="111E35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5" name="Image 0" descr="/Users/sujanbhuiyan/Gigaverse/Projects/navigator/docs/assets/screenshots/desktop-04-repo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0" y="1783080"/>
            <a:ext cx="5394960" cy="3374136"/>
          </a:xfrm>
          <a:prstGeom prst="ellipse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920240"/>
            <a:ext cx="5029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7D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each appointment, one tap generates a 90-day summary: adherence, behavioral episodes, trigger patterns, school observations, and notable changes.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384048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figure is derived from the logged data — never invented</a:t>
            </a:r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8A9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with an honest ‘on track’ or ‘review’ signal. Exports to PDF on-device.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Navigator · Powered by NovaSapien Labs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· CAPTURE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15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 to log. Quiet to use. AI where it earns its place.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257800" cy="1691640"/>
          </a:xfrm>
          <a:prstGeom prst="roundRect">
            <a:avLst>
              <a:gd name="adj" fmla="val 5405"/>
            </a:avLst>
          </a:prstGeom>
          <a:solidFill>
            <a:srgbClr val="F5F4EF"/>
          </a:solidFill>
          <a:ln w="12700">
            <a:solidFill>
              <a:srgbClr val="E2E0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286000"/>
            <a:ext cx="457200" cy="45720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554480" y="2267712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logging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554480" y="2743200"/>
            <a:ext cx="4069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outcomes — taken, late, missed, refused — plus tagged observations on an append-only log that never loses history.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91072" y="2011680"/>
            <a:ext cx="5257800" cy="1691640"/>
          </a:xfrm>
          <a:prstGeom prst="roundRect">
            <a:avLst>
              <a:gd name="adj" fmla="val 5405"/>
            </a:avLst>
          </a:prstGeom>
          <a:solidFill>
            <a:srgbClr val="F5F4EF"/>
          </a:solidFill>
          <a:ln w="12700">
            <a:solidFill>
              <a:srgbClr val="E2E0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65392" y="2286000"/>
            <a:ext cx="457200" cy="45720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1" name="Text 9"/>
          <p:cNvSpPr/>
          <p:nvPr/>
        </p:nvSpPr>
        <p:spPr>
          <a:xfrm>
            <a:off x="6565392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205472" y="2267712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notes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205472" y="2743200"/>
            <a:ext cx="4069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an observation; a Whisper-backed function transcribes it into a structured event.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069080"/>
            <a:ext cx="5257800" cy="1691640"/>
          </a:xfrm>
          <a:prstGeom prst="roundRect">
            <a:avLst>
              <a:gd name="adj" fmla="val 5405"/>
            </a:avLst>
          </a:prstGeom>
          <a:solidFill>
            <a:srgbClr val="F5F4EF"/>
          </a:solidFill>
          <a:ln w="12700">
            <a:solidFill>
              <a:srgbClr val="E2E0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4343400"/>
            <a:ext cx="457200" cy="45720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343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554480" y="4325112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narrative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554480" y="4800600"/>
            <a:ext cx="4069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Claude-backed function turns the report into a calm, clinician-fluent summary.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91072" y="4069080"/>
            <a:ext cx="5257800" cy="1691640"/>
          </a:xfrm>
          <a:prstGeom prst="roundRect">
            <a:avLst>
              <a:gd name="adj" fmla="val 5405"/>
            </a:avLst>
          </a:prstGeom>
          <a:solidFill>
            <a:srgbClr val="F5F4EF"/>
          </a:solidFill>
          <a:ln w="12700">
            <a:solidFill>
              <a:srgbClr val="E2E0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65392" y="4343400"/>
            <a:ext cx="457200" cy="45720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1" name="Text 19"/>
          <p:cNvSpPr/>
          <p:nvPr/>
        </p:nvSpPr>
        <p:spPr>
          <a:xfrm>
            <a:off x="6565392" y="4343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205472" y="4325112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stay server-side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205472" y="4800600"/>
            <a:ext cx="4069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AI features run behind a server boundary and degrade gracefully when unconfigured.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Navigator · Powered by NovaSapien Labs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NAVIGATOR IS DIFFERENT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bets, baked into the architecture.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257800" cy="1783080"/>
          </a:xfrm>
          <a:prstGeom prst="roundRect">
            <a:avLst>
              <a:gd name="adj" fmla="val 5128"/>
            </a:avLst>
          </a:prstGeom>
          <a:solidFill>
            <a:srgbClr val="111E35"/>
          </a:solidFill>
          <a:ln w="12700">
            <a:solidFill>
              <a:srgbClr val="2434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221992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Local-first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60120" y="2743200"/>
            <a:ext cx="4617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7D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interface never waits on the network. A dose log is instant; sync is additive, not a dependency.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91072" y="1965960"/>
            <a:ext cx="5257800" cy="1783080"/>
          </a:xfrm>
          <a:prstGeom prst="roundRect">
            <a:avLst>
              <a:gd name="adj" fmla="val 5128"/>
            </a:avLst>
          </a:prstGeom>
          <a:solidFill>
            <a:srgbClr val="111E35"/>
          </a:solidFill>
          <a:ln w="12700">
            <a:solidFill>
              <a:srgbClr val="2434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11112" y="2221992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Privacy by architecture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611112" y="2743200"/>
            <a:ext cx="4617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7D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lives encrypted on the device before it leaves it. AI requests are scoped, redacted, and never trained on.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4069080"/>
            <a:ext cx="5257800" cy="1783080"/>
          </a:xfrm>
          <a:prstGeom prst="roundRect">
            <a:avLst>
              <a:gd name="adj" fmla="val 5128"/>
            </a:avLst>
          </a:prstGeom>
          <a:solidFill>
            <a:srgbClr val="111E35"/>
          </a:solidFill>
          <a:ln w="12700">
            <a:solidFill>
              <a:srgbClr val="2434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4325112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Clinical, not consumer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60120" y="4846320"/>
            <a:ext cx="4617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7D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report is the product — specific, honest, readable by a clinician in under a minute.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91072" y="4069080"/>
            <a:ext cx="5257800" cy="1783080"/>
          </a:xfrm>
          <a:prstGeom prst="roundRect">
            <a:avLst>
              <a:gd name="adj" fmla="val 5128"/>
            </a:avLst>
          </a:prstGeom>
          <a:solidFill>
            <a:srgbClr val="111E35"/>
          </a:solidFill>
          <a:ln w="12700">
            <a:solidFill>
              <a:srgbClr val="2434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11112" y="4325112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for the hardest case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611112" y="4846320"/>
            <a:ext cx="4617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7D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regimens, corrections without data loss, and a voice designed for a stressed caregiver.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Navigator · Powered by NovaSapien Labs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PRIVACY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15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child’s data stays yours.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227064" y="1837944"/>
            <a:ext cx="5330952" cy="3355848"/>
          </a:xfrm>
          <a:prstGeom prst="roundRect">
            <a:avLst>
              <a:gd name="adj" fmla="val 2180"/>
            </a:avLst>
          </a:prstGeom>
          <a:solidFill>
            <a:srgbClr val="111E35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5" name="Image 0" descr="/Users/sujanbhuiyan/Gigaverse/Projects/navigator/docs/assets/screenshots/desktop-05-secur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3640" y="1874520"/>
            <a:ext cx="5257800" cy="3282696"/>
          </a:xfrm>
          <a:prstGeom prst="ellipse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96596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Local-first storage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2295144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on your device before it ever leaves it.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2807208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encryption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40080" y="3136392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keys derive from your account — only you can read the logs.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0080" y="3648456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HIPAA-ready, BAA-backed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40080" y="397764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providers sign Business Associate Agreements.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40080" y="4489704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that never trains on you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40080" y="4818888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are scoped, redacted, and excluded from training.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Navigator · Powered by NovaSapien Labs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POSTURE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to be trusted with sensitive health data.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257800" cy="1783080"/>
          </a:xfrm>
          <a:prstGeom prst="roundRect">
            <a:avLst>
              <a:gd name="adj" fmla="val 5128"/>
            </a:avLst>
          </a:prstGeom>
          <a:solidFill>
            <a:srgbClr val="111E35"/>
          </a:solidFill>
          <a:ln w="12700">
            <a:solidFill>
              <a:srgbClr val="2434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203704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database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60120" y="2697480"/>
            <a:ext cx="4617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7D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PGlite — Postgres compiled to WASM — persisted in the browser. Reactive reads keep the UI live.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91072" y="1965960"/>
            <a:ext cx="5257800" cy="1783080"/>
          </a:xfrm>
          <a:prstGeom prst="roundRect">
            <a:avLst>
              <a:gd name="adj" fmla="val 5128"/>
            </a:avLst>
          </a:prstGeom>
          <a:solidFill>
            <a:srgbClr val="111E35"/>
          </a:solidFill>
          <a:ln w="12700">
            <a:solidFill>
              <a:srgbClr val="2434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11112" y="2203704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sourcing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611112" y="2697480"/>
            <a:ext cx="4617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7D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log is append-only. Edits are corrections; nothing is overwritten — enforced with hard database triggers.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4069080"/>
            <a:ext cx="5257800" cy="1783080"/>
          </a:xfrm>
          <a:prstGeom prst="roundRect">
            <a:avLst>
              <a:gd name="adj" fmla="val 5128"/>
            </a:avLst>
          </a:prstGeom>
          <a:solidFill>
            <a:srgbClr val="111E35"/>
          </a:solidFill>
          <a:ln w="12700">
            <a:solidFill>
              <a:srgbClr val="2434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4306824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boundary + RLS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60120" y="4800600"/>
            <a:ext cx="4617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7D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sync, and AI sit behind a server boundary with row-level security on every table.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91072" y="4069080"/>
            <a:ext cx="5257800" cy="1783080"/>
          </a:xfrm>
          <a:prstGeom prst="roundRect">
            <a:avLst>
              <a:gd name="adj" fmla="val 5128"/>
            </a:avLst>
          </a:prstGeom>
          <a:solidFill>
            <a:srgbClr val="111E35"/>
          </a:solidFill>
          <a:ln w="12700">
            <a:solidFill>
              <a:srgbClr val="2434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11112" y="4306824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design system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11112" y="4800600"/>
            <a:ext cx="4617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7D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color and size comes from one token source, enforced by lint.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Navigator · Powered by NovaSapien Labs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&amp; HARDENING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15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Shipped, then hardened — and verified on every change.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392424" cy="1783080"/>
          </a:xfrm>
          <a:prstGeom prst="roundRect">
            <a:avLst>
              <a:gd name="adj" fmla="val 5128"/>
            </a:avLst>
          </a:prstGeom>
          <a:solidFill>
            <a:srgbClr val="F5F4EF"/>
          </a:solidFill>
          <a:ln w="12700">
            <a:solidFill>
              <a:srgbClr val="E2E0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203704"/>
            <a:ext cx="28437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679192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 + hardening headers, server-fn authorization, owner-scoped RLS, PII redaction.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52544" y="1965960"/>
            <a:ext cx="3392424" cy="1783080"/>
          </a:xfrm>
          <a:prstGeom prst="roundRect">
            <a:avLst>
              <a:gd name="adj" fmla="val 5128"/>
            </a:avLst>
          </a:prstGeom>
          <a:solidFill>
            <a:srgbClr val="F5F4EF"/>
          </a:solidFill>
          <a:ln w="12700">
            <a:solidFill>
              <a:srgbClr val="E2E0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26864" y="2203704"/>
            <a:ext cx="28437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626864" y="2679192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WCAG AA: focus rings, 44px targets, status never color-alone, pinch-zoom restored.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65008" y="1965960"/>
            <a:ext cx="3392424" cy="1783080"/>
          </a:xfrm>
          <a:prstGeom prst="roundRect">
            <a:avLst>
              <a:gd name="adj" fmla="val 5128"/>
            </a:avLst>
          </a:prstGeom>
          <a:solidFill>
            <a:srgbClr val="F5F4EF"/>
          </a:solidFill>
          <a:ln w="12700">
            <a:solidFill>
              <a:srgbClr val="E2E0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39328" y="2203704"/>
            <a:ext cx="28437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339328" y="2679192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route under the 250 KB budget; the database loads off the critical path.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4069080"/>
            <a:ext cx="3392424" cy="1783080"/>
          </a:xfrm>
          <a:prstGeom prst="roundRect">
            <a:avLst>
              <a:gd name="adj" fmla="val 5128"/>
            </a:avLst>
          </a:prstGeom>
          <a:solidFill>
            <a:srgbClr val="F5F4EF"/>
          </a:solidFill>
          <a:ln w="12700">
            <a:solidFill>
              <a:srgbClr val="E2E0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306824"/>
            <a:ext cx="28437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4400" y="4782312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Fluid type, codified breakpoints, reading-width, safe-area — 320px to 1920px.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52544" y="4069080"/>
            <a:ext cx="3392424" cy="1783080"/>
          </a:xfrm>
          <a:prstGeom prst="roundRect">
            <a:avLst>
              <a:gd name="adj" fmla="val 5128"/>
            </a:avLst>
          </a:prstGeom>
          <a:solidFill>
            <a:srgbClr val="F5F4EF"/>
          </a:solidFill>
          <a:ln w="12700">
            <a:solidFill>
              <a:srgbClr val="E2E0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4306824"/>
            <a:ext cx="28437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626864" y="4782312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gate: typecheck, lint (token + voice rules), unit + e2e tests, production build.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65008" y="4069080"/>
            <a:ext cx="3392424" cy="1783080"/>
          </a:xfrm>
          <a:prstGeom prst="roundRect">
            <a:avLst>
              <a:gd name="adj" fmla="val 5128"/>
            </a:avLst>
          </a:prstGeom>
          <a:solidFill>
            <a:srgbClr val="F5F4EF"/>
          </a:solidFill>
          <a:ln w="12700">
            <a:solidFill>
              <a:srgbClr val="E2E0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39328" y="4306824"/>
            <a:ext cx="28437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339328" y="4782312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tests on the report engine and database migrations.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Navigator · Powered by NovaSapien Labs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EVERYWHERE · OFFLINE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installable app that works with no network.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03504" y="1700784"/>
            <a:ext cx="2404872" cy="4279392"/>
          </a:xfrm>
          <a:prstGeom prst="roundRect">
            <a:avLst>
              <a:gd name="adj" fmla="val 3042"/>
            </a:avLst>
          </a:prstGeom>
          <a:solidFill>
            <a:srgbClr val="111E35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5" name="Image 0" descr="/Users/sujanbhuiyan/Gigaverse/Projects/navigator/docs/assets/screenshots/mobile-01-he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37360"/>
            <a:ext cx="2331720" cy="4206240"/>
          </a:xfrm>
          <a:prstGeom prst="ellipse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0" y="2011680"/>
            <a:ext cx="7589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C7D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surface adapts intact to a 390px phone — an accessible menu, cleanly stacked actions, and no overflow at any width.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3657600" y="3383280"/>
            <a:ext cx="201168" cy="201168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8" name="Text 5"/>
          <p:cNvSpPr/>
          <p:nvPr/>
        </p:nvSpPr>
        <p:spPr>
          <a:xfrm>
            <a:off x="4023360" y="326440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Installable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766560" y="3264408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home screen; runs full-screen like a native app.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657600" y="4096512"/>
            <a:ext cx="201168" cy="201168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11" name="Text 8"/>
          <p:cNvSpPr/>
          <p:nvPr/>
        </p:nvSpPr>
        <p:spPr>
          <a:xfrm>
            <a:off x="4023360" y="39776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766560" y="397764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layer is on-device; the shell is cached for offline launch.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657600" y="4809744"/>
            <a:ext cx="201168" cy="201168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14" name="Text 11"/>
          <p:cNvSpPr/>
          <p:nvPr/>
        </p:nvSpPr>
        <p:spPr>
          <a:xfrm>
            <a:off x="4023360" y="469087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Calm updates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766560" y="4690872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versions surface without disrupting a logging session.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Navigator · Powered by NovaSapien Labs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15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→ Building → Envisioned.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392424" cy="4206240"/>
          </a:xfrm>
          <a:prstGeom prst="roundRect">
            <a:avLst>
              <a:gd name="adj" fmla="val 2695"/>
            </a:avLst>
          </a:prstGeom>
          <a:solidFill>
            <a:srgbClr val="EEF0FF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103120"/>
            <a:ext cx="28437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423160"/>
            <a:ext cx="28437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shipped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926080"/>
            <a:ext cx="2889504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Passwordless auth, local-only mode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DB, reactive reads, one-tap logging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Today, timeline, report, prep, patterns, settings, onboarding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Voice, AI narrative, PDF, PWA, waitlist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+ a11y + perf + responsive hardening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52544" y="1874520"/>
            <a:ext cx="3392424" cy="4206240"/>
          </a:xfrm>
          <a:prstGeom prst="roundRect">
            <a:avLst>
              <a:gd name="adj" fmla="val 2695"/>
            </a:avLst>
          </a:prstGeom>
          <a:solidFill>
            <a:srgbClr val="F5F4EF"/>
          </a:solidFill>
          <a:ln w="12700">
            <a:solidFill>
              <a:srgbClr val="E2E0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26864" y="2103120"/>
            <a:ext cx="28437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626864" y="2423160"/>
            <a:ext cx="28437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next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26864" y="2926080"/>
            <a:ext cx="2889504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Cross-device sync (interface defined)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Co-parent sharing + per-row attribution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detection across events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dose reminders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65008" y="1874520"/>
            <a:ext cx="3392424" cy="4206240"/>
          </a:xfrm>
          <a:prstGeom prst="roundRect">
            <a:avLst>
              <a:gd name="adj" fmla="val 2695"/>
            </a:avLst>
          </a:prstGeom>
          <a:solidFill>
            <a:srgbClr val="F5F4EF"/>
          </a:solidFill>
          <a:ln w="12700">
            <a:solidFill>
              <a:srgbClr val="E2E0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39328" y="2103120"/>
            <a:ext cx="28437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ENVISIONED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339328" y="2423160"/>
            <a:ext cx="28437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beyond the parent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339328" y="2926080"/>
            <a:ext cx="2889504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clinician portal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Payer-grade / IEP exports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IEP document parsing</a:t>
            </a:r>
            <a:endParaRPr lang="en-US" sz="11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OAuth sign-in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Navigator · Powered by NovaSapien Labs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 is shipped, hardened, and verified.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424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C7D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Navigator shows that NovaSapien Labs can take a genuinely hard problem — the invisible labor of managing a child’s psychiatric care — and deliver a private, fast, clinical-grade tool a stressed parent can actually use. Phase 2 and 3 extend this foundation, not rebuild it.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3520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next steps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3977640"/>
            <a:ext cx="365760" cy="36576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3977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9776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closed beta to the first cohort of families.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4544568"/>
            <a:ext cx="365760" cy="36576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45445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88720" y="454456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cross-device sync onto the existing interface.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5111496"/>
            <a:ext cx="365760" cy="36576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511149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88720" y="5111496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clinician discovery for the read-only portal.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4688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Navigator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640080" y="33375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Walk into every appointment prepared.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42062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NovaSapien Labs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59436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Navigator does not diagnose, prescribe, or treat. For clinical decisions, always consult your child’s provider.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NovaSapien Labs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Navigator — Product &amp; Engineering</dc:title>
  <dc:subject>PptxGenJS Presentation</dc:subject>
  <dc:creator>NovaSapien Labs</dc:creator>
  <cp:lastModifiedBy>NovaSapien Labs</cp:lastModifiedBy>
  <cp:revision>1</cp:revision>
  <dcterms:created xsi:type="dcterms:W3CDTF">2026-06-03T08:47:47Z</dcterms:created>
  <dcterms:modified xsi:type="dcterms:W3CDTF">2026-06-03T08:47:47Z</dcterms:modified>
</cp:coreProperties>
</file>